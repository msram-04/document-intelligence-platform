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LEDGER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BEECE8"/>
                </a:solidFill>
                <a:latin typeface="Aptos"/>
              </a:defRPr>
            </a:pPr>
            <a:r>
              <a:t>Intelligent Document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Extract, validate, evidence, and retrieve financial documents through one focused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49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DEBC73"/>
                </a:solidFill>
                <a:latin typeface="Aptos"/>
              </a:defRPr>
            </a:pPr>
            <a:r>
              <a:t>Solution Presentation | AI Engineer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A82"/>
                </a:solidFill>
                <a:latin typeface="Aptos"/>
              </a:defRPr>
            </a:pPr>
            <a:r>
              <a:t>Ledger Lens  |  Solution Presentation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334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50976"/>
            <a:ext cx="1051560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0626D"/>
                </a:solidFill>
                <a:latin typeface="Aptos"/>
              </a:defRPr>
            </a:pPr>
            <a:r>
              <a:t>Financial documents arrive in inconsistent, semi-structured formats.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F3A"/>
                </a:solidFill>
                <a:latin typeface="Aptos"/>
              </a:defRPr>
            </a:pPr>
            <a:r>
              <a:t>• Manual extraction is slow and difficult to audit.</a:t>
            </a:r>
          </a:p>
          <a:p>
            <a:pPr>
              <a:spcAft>
                <a:spcPts val="1200"/>
              </a:spcAft>
              <a:defRPr sz="2000">
                <a:solidFill>
                  <a:srgbClr val="232F3A"/>
                </a:solidFill>
                <a:latin typeface="Aptos"/>
              </a:defRPr>
            </a:pPr>
            <a:r>
              <a:t>• Scanned PDFs and image uploads require OCR before parsing.</a:t>
            </a:r>
          </a:p>
          <a:p>
            <a:pPr>
              <a:spcAft>
                <a:spcPts val="1200"/>
              </a:spcAft>
              <a:defRPr sz="2000">
                <a:solidFill>
                  <a:srgbClr val="232F3A"/>
                </a:solidFill>
                <a:latin typeface="Aptos"/>
              </a:defRPr>
            </a:pPr>
            <a:r>
              <a:t>• Extracted numbers need accounting consistency checks, not just text recognition.</a:t>
            </a:r>
          </a:p>
          <a:p>
            <a:pPr>
              <a:spcAft>
                <a:spcPts val="1200"/>
              </a:spcAft>
              <a:defRPr sz="2000">
                <a:solidFill>
                  <a:srgbClr val="232F3A"/>
                </a:solidFill>
                <a:latin typeface="Aptos"/>
              </a:defRPr>
            </a:pPr>
            <a:r>
              <a:t>• A reviewer needs both structured results and the evidence behind each field.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A82"/>
                </a:solidFill>
                <a:latin typeface="Aptos"/>
              </a:defRPr>
            </a:pPr>
            <a:r>
              <a:t>Ledger Lens  |  Solution Presentation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334"/>
                </a:solidFill>
                <a:latin typeface="Aptos"/>
              </a:defRPr>
            </a:pPr>
            <a:r>
              <a:t>Solution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50976"/>
            <a:ext cx="1051560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0626D"/>
                </a:solidFill>
                <a:latin typeface="Aptos"/>
              </a:defRPr>
            </a:pPr>
            <a:r>
              <a:t>A compact pipeline turns an upload into a traceable processing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F3A"/>
                </a:solidFill>
                <a:latin typeface="Aptos"/>
              </a:defRPr>
            </a:pPr>
            <a:r>
              <a:t>• Validate file type, size, readability, and page count.</a:t>
            </a:r>
          </a:p>
          <a:p>
            <a:pPr>
              <a:spcAft>
                <a:spcPts val="1200"/>
              </a:spcAft>
              <a:defRPr sz="2000">
                <a:solidFill>
                  <a:srgbClr val="232F3A"/>
                </a:solidFill>
                <a:latin typeface="Aptos"/>
              </a:defRPr>
            </a:pPr>
            <a:r>
              <a:t>• Render PDF pages and run EasyOCR over PDF, JPG, and PNG inputs.</a:t>
            </a:r>
          </a:p>
          <a:p>
            <a:pPr>
              <a:spcAft>
                <a:spcPts val="1200"/>
              </a:spcAft>
              <a:defRPr sz="2000">
                <a:solidFill>
                  <a:srgbClr val="232F3A"/>
                </a:solidFill>
                <a:latin typeface="Aptos"/>
              </a:defRPr>
            </a:pPr>
            <a:r>
              <a:t>• Parse four mandatory financial document types into structured JSON.</a:t>
            </a:r>
          </a:p>
          <a:p>
            <a:pPr>
              <a:spcAft>
                <a:spcPts val="1200"/>
              </a:spcAft>
              <a:defRPr sz="2000">
                <a:solidFill>
                  <a:srgbClr val="232F3A"/>
                </a:solidFill>
                <a:latin typeface="Aptos"/>
              </a:defRPr>
            </a:pPr>
            <a:r>
              <a:t>• Run formula checks and persist the latest result for retrieval and dashboard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A82"/>
                </a:solidFill>
                <a:latin typeface="Aptos"/>
              </a:defRPr>
            </a:pPr>
            <a:r>
              <a:t>Ledger Lens  |  Solution Presentation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334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50976"/>
            <a:ext cx="1051560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0626D"/>
                </a:solidFill>
                <a:latin typeface="Aptos"/>
              </a:defRPr>
            </a:pPr>
            <a:r>
              <a:t>Frontend and API share one deployable FastAPI service.</a:t>
            </a:r>
          </a:p>
        </p:txBody>
      </p:sp>
      <p:pic>
        <p:nvPicPr>
          <p:cNvPr id="5" name="Picture 4" descr="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27080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A82"/>
                </a:solidFill>
                <a:latin typeface="Aptos"/>
              </a:defRPr>
            </a:pPr>
            <a:r>
              <a:t>Ledger Lens  |  Solution Presentation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334"/>
                </a:solidFill>
                <a:latin typeface="Aptos"/>
              </a:defRPr>
            </a:pPr>
            <a:r>
              <a:t>Processing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50976"/>
            <a:ext cx="1051560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0626D"/>
                </a:solidFill>
                <a:latin typeface="Aptos"/>
              </a:defRPr>
            </a:pPr>
            <a:r>
              <a:t>Each stage has a clear responsibility and a testable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F3A"/>
                </a:solidFill>
                <a:latin typeface="Aptos"/>
              </a:defRPr>
            </a:pPr>
            <a:r>
              <a:t>• Input: multipart upload plus document_type.</a:t>
            </a:r>
          </a:p>
          <a:p>
            <a:pPr>
              <a:spcAft>
                <a:spcPts val="1200"/>
              </a:spcAft>
              <a:defRPr sz="1800">
                <a:solidFill>
                  <a:srgbClr val="232F3A"/>
                </a:solidFill>
                <a:latin typeface="Aptos"/>
              </a:defRPr>
            </a:pPr>
            <a:r>
              <a:t>• Validation: PDF/JPG/PNG allowlist, empty/corrupt checks, 20 MB limit, three-page limit.</a:t>
            </a:r>
          </a:p>
          <a:p>
            <a:pPr>
              <a:spcAft>
                <a:spcPts val="1200"/>
              </a:spcAft>
              <a:defRPr sz="1800">
                <a:solidFill>
                  <a:srgbClr val="232F3A"/>
                </a:solidFill>
                <a:latin typeface="Aptos"/>
              </a:defRPr>
            </a:pPr>
            <a:r>
              <a:t>• OCR: PyMuPDF renders PDF pages; EasyOCR extracts spatial text.</a:t>
            </a:r>
          </a:p>
          <a:p>
            <a:pPr>
              <a:spcAft>
                <a:spcPts val="1200"/>
              </a:spcAft>
              <a:defRPr sz="1800">
                <a:solidFill>
                  <a:srgbClr val="232F3A"/>
                </a:solidFill>
                <a:latin typeface="Aptos"/>
              </a:defRPr>
            </a:pPr>
            <a:r>
              <a:t>• Extraction: document-specific fields, tables, evidence, page numbers, and confidence.</a:t>
            </a:r>
          </a:p>
          <a:p>
            <a:pPr>
              <a:spcAft>
                <a:spcPts val="1200"/>
              </a:spcAft>
              <a:defRPr sz="1800">
                <a:solidFill>
                  <a:srgbClr val="232F3A"/>
                </a:solidFill>
                <a:latin typeface="Aptos"/>
              </a:defRPr>
            </a:pPr>
            <a:r>
              <a:t>• Validation and storage: financial checks are returned in JSON before SQLite persistence.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A82"/>
                </a:solidFill>
                <a:latin typeface="Aptos"/>
              </a:defRPr>
            </a:pPr>
            <a:r>
              <a:t>Ledger Lens  |  Solution Presentation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334"/>
                </a:solidFill>
                <a:latin typeface="Aptos"/>
              </a:defRPr>
            </a:pPr>
            <a:r>
              <a:t>Supported documents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50976"/>
            <a:ext cx="1051560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0626D"/>
                </a:solidFill>
                <a:latin typeface="Aptos"/>
              </a:defRPr>
            </a:pPr>
            <a:r>
              <a:t>The parser exposes consistent structured data across four financial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92040" cy="1234440"/>
          </a:xfrm>
          <a:prstGeom prst="roundRect">
            <a:avLst/>
          </a:prstGeom>
          <a:solidFill>
            <a:srgbClr val="F1F6F6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8B8B"/>
                </a:solidFill>
                <a:latin typeface="Aptos"/>
              </a:defRPr>
            </a:pPr>
            <a:r>
              <a:t>Invoice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128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F3A"/>
                </a:solidFill>
                <a:latin typeface="Aptos"/>
              </a:defRPr>
            </a:pPr>
            <a:r>
              <a:t>Totals, tax, currency, line items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4892040" cy="1234440"/>
          </a:xfrm>
          <a:prstGeom prst="roundRect">
            <a:avLst/>
          </a:prstGeom>
          <a:solidFill>
            <a:srgbClr val="F1F6F6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8B8B"/>
                </a:solidFill>
                <a:latin typeface="Aptos"/>
              </a:defRPr>
            </a:pPr>
            <a:r>
              <a:t>Balance 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128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F3A"/>
                </a:solidFill>
                <a:latin typeface="Aptos"/>
              </a:defRPr>
            </a:pPr>
            <a:r>
              <a:t>Assets, liabilities, equity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29000"/>
            <a:ext cx="4892040" cy="1234440"/>
          </a:xfrm>
          <a:prstGeom prst="roundRect">
            <a:avLst/>
          </a:prstGeom>
          <a:solidFill>
            <a:srgbClr val="F1F6F6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8B8B"/>
                </a:solidFill>
                <a:latin typeface="Aptos"/>
              </a:defRPr>
            </a:pPr>
            <a:r>
              <a:t>Profit &amp;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416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F3A"/>
                </a:solidFill>
                <a:latin typeface="Aptos"/>
              </a:defRPr>
            </a:pPr>
            <a:r>
              <a:t>Revenue, costs, profit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429000"/>
            <a:ext cx="4892040" cy="1234440"/>
          </a:xfrm>
          <a:prstGeom prst="roundRect">
            <a:avLst/>
          </a:prstGeom>
          <a:solidFill>
            <a:srgbClr val="F1F6F6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611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8B8B"/>
                </a:solidFill>
                <a:latin typeface="Aptos"/>
              </a:defRPr>
            </a:pPr>
            <a:r>
              <a:t>Cash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0416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F3A"/>
                </a:solidFill>
                <a:latin typeface="Aptos"/>
              </a:defRPr>
            </a:pPr>
            <a:r>
              <a:t>Operating, investing, financing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A82"/>
                </a:solidFill>
                <a:latin typeface="Aptos"/>
              </a:defRPr>
            </a:pPr>
            <a:r>
              <a:t>Ledger Lens  |  Solution Presentation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334"/>
                </a:solidFill>
                <a:latin typeface="Aptos"/>
              </a:defRPr>
            </a:pPr>
            <a:r>
              <a:t>API 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50976"/>
            <a:ext cx="1051560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0626D"/>
                </a:solidFill>
                <a:latin typeface="Aptos"/>
              </a:defRPr>
            </a:pPr>
            <a:r>
              <a:t>Simple REST endpoints cover upload, health, retrieval, and dashboard history.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F3A"/>
                </a:solidFill>
                <a:latin typeface="Aptos"/>
              </a:defRPr>
            </a:pPr>
            <a:r>
              <a:t>• GET /api/v1/health -&gt; service status.</a:t>
            </a:r>
          </a:p>
          <a:p>
            <a:pPr>
              <a:spcAft>
                <a:spcPts val="1200"/>
              </a:spcAft>
              <a:defRPr sz="1900">
                <a:solidFill>
                  <a:srgbClr val="232F3A"/>
                </a:solidFill>
                <a:latin typeface="Aptos"/>
              </a:defRPr>
            </a:pPr>
            <a:r>
              <a:t>• POST /api/v1/documents/process -&gt; multipart file plus document_type.</a:t>
            </a:r>
          </a:p>
          <a:p>
            <a:pPr>
              <a:spcAft>
                <a:spcPts val="1200"/>
              </a:spcAft>
              <a:defRPr sz="1900">
                <a:solidFill>
                  <a:srgbClr val="232F3A"/>
                </a:solidFill>
                <a:latin typeface="Aptos"/>
              </a:defRPr>
            </a:pPr>
            <a:r>
              <a:t>• GET /api/v1/documents/{document_name} -&gt; latest stored processing result.</a:t>
            </a:r>
          </a:p>
          <a:p>
            <a:pPr>
              <a:spcAft>
                <a:spcPts val="1200"/>
              </a:spcAft>
              <a:defRPr sz="1900">
                <a:solidFill>
                  <a:srgbClr val="232F3A"/>
                </a:solidFill>
                <a:latin typeface="Aptos"/>
              </a:defRPr>
            </a:pPr>
            <a:r>
              <a:t>• GET /api/v1/documents -&gt; processed-document list for the dashboard.</a:t>
            </a:r>
          </a:p>
          <a:p>
            <a:pPr>
              <a:spcAft>
                <a:spcPts val="1200"/>
              </a:spcAft>
              <a:defRPr sz="1900">
                <a:solidFill>
                  <a:srgbClr val="232F3A"/>
                </a:solidFill>
                <a:latin typeface="Aptos"/>
              </a:defRPr>
            </a:pPr>
            <a:r>
              <a:t>• GET /docs -&gt; generated Swagger/OpenAPI interface.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A82"/>
                </a:solidFill>
                <a:latin typeface="Aptos"/>
              </a:defRPr>
            </a:pPr>
            <a:r>
              <a:t>Ledger Lens  |  Solution Presentation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334"/>
                </a:solidFill>
                <a:latin typeface="Aptos"/>
              </a:defRPr>
            </a:pPr>
            <a:r>
              <a:t>Financial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50976"/>
            <a:ext cx="1051560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0626D"/>
                </a:solidFill>
                <a:latin typeface="Aptos"/>
              </a:defRPr>
            </a:pPr>
            <a:r>
              <a:t>Numbers are checked as formulas and returned inside the JSON validation section.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F3A"/>
                </a:solidFill>
                <a:latin typeface="Aptos"/>
              </a:defRPr>
            </a:pPr>
            <a:r>
              <a:t>• Invoice: subtotal + tax + shipping - discount = total.</a:t>
            </a:r>
          </a:p>
          <a:p>
            <a:pPr>
              <a:spcAft>
                <a:spcPts val="1200"/>
              </a:spcAft>
              <a:defRPr sz="1800">
                <a:solidFill>
                  <a:srgbClr val="232F3A"/>
                </a:solidFill>
                <a:latin typeface="Aptos"/>
              </a:defRPr>
            </a:pPr>
            <a:r>
              <a:t>• Balance sheet: assets approximately equal liabilities + equity.</a:t>
            </a:r>
          </a:p>
          <a:p>
            <a:pPr>
              <a:spcAft>
                <a:spcPts val="1200"/>
              </a:spcAft>
              <a:defRPr sz="1800">
                <a:solidFill>
                  <a:srgbClr val="232F3A"/>
                </a:solidFill>
                <a:latin typeface="Aptos"/>
              </a:defRPr>
            </a:pPr>
            <a:r>
              <a:t>• Profit and loss: revenue - cost of sales - operating expenses = net profit.</a:t>
            </a:r>
          </a:p>
          <a:p>
            <a:pPr>
              <a:spcAft>
                <a:spcPts val="1200"/>
              </a:spcAft>
              <a:defRPr sz="1800">
                <a:solidFill>
                  <a:srgbClr val="232F3A"/>
                </a:solidFill>
                <a:latin typeface="Aptos"/>
              </a:defRPr>
            </a:pPr>
            <a:r>
              <a:t>• Cash flow: operating + investing + financing = net change; opening + change = closing.</a:t>
            </a:r>
          </a:p>
          <a:p>
            <a:pPr>
              <a:spcAft>
                <a:spcPts val="1200"/>
              </a:spcAft>
              <a:defRPr sz="1800">
                <a:solidFill>
                  <a:srgbClr val="232F3A"/>
                </a:solidFill>
                <a:latin typeface="Aptos"/>
              </a:defRPr>
            </a:pPr>
            <a:r>
              <a:t>• Tolerance: $0.05 minimum absolute tolerance plus 1% relative tolerance; cash-flow translation tolerance is $5,000.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A82"/>
                </a:solidFill>
                <a:latin typeface="Aptos"/>
              </a:defRPr>
            </a:pPr>
            <a:r>
              <a:t>Ledger Lens  |  Solution Presentation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334"/>
                </a:solidFill>
                <a:latin typeface="Aptos"/>
              </a:defRPr>
            </a:pPr>
            <a:r>
              <a:t>Dashboard and persistence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50976"/>
            <a:ext cx="1051560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0626D"/>
                </a:solidFill>
                <a:latin typeface="Aptos"/>
              </a:defRPr>
            </a:pPr>
            <a:r>
              <a:t>Processed documents remain discoverable after the upload request finishes.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F3A"/>
                </a:solidFill>
                <a:latin typeface="Aptos"/>
              </a:defRPr>
            </a:pPr>
            <a:r>
              <a:t>• SQLite stores serialized processing results through a repository layer.</a:t>
            </a:r>
          </a:p>
          <a:p>
            <a:pPr>
              <a:spcAft>
                <a:spcPts val="1200"/>
              </a:spcAft>
              <a:defRPr sz="2000">
                <a:solidFill>
                  <a:srgbClr val="232F3A"/>
                </a:solidFill>
                <a:latin typeface="Aptos"/>
              </a:defRPr>
            </a:pPr>
            <a:r>
              <a:t>• The dashboard consumes the list endpoint and links to document results.</a:t>
            </a:r>
          </a:p>
          <a:p>
            <a:pPr>
              <a:spcAft>
                <a:spcPts val="1200"/>
              </a:spcAft>
              <a:defRPr sz="2000">
                <a:solidFill>
                  <a:srgbClr val="232F3A"/>
                </a:solidFill>
                <a:latin typeface="Aptos"/>
              </a:defRPr>
            </a:pPr>
            <a:r>
              <a:t>• GET-by-name returns the latest record for a document filename.</a:t>
            </a:r>
          </a:p>
          <a:p>
            <a:pPr>
              <a:spcAft>
                <a:spcPts val="1200"/>
              </a:spcAft>
              <a:defRPr sz="2000">
                <a:solidFill>
                  <a:srgbClr val="232F3A"/>
                </a:solidFill>
                <a:latin typeface="Aptos"/>
              </a:defRPr>
            </a:pPr>
            <a:r>
              <a:t>• Local path: data/documents.db; deployed path: /var/data/documents.db on the Render persistent disk.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A82"/>
                </a:solidFill>
                <a:latin typeface="Aptos"/>
              </a:defRPr>
            </a:pPr>
            <a:r>
              <a:t>Ledger Lens  |  Solution Presentation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334"/>
                </a:solidFill>
                <a:latin typeface="Aptos"/>
              </a:defRPr>
            </a:pPr>
            <a:r>
              <a:t>Deployment and responsible operation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50976"/>
            <a:ext cx="1051560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0626D"/>
                </a:solidFill>
                <a:latin typeface="Aptos"/>
              </a:defRPr>
            </a:pPr>
            <a:r>
              <a:t>Render runs the same service that serves the browser dashboard and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F3A"/>
                </a:solidFill>
                <a:latin typeface="Aptos"/>
              </a:defRPr>
            </a:pPr>
            <a:r>
              <a:t>• Platform: Render Web Service using render.yaml.</a:t>
            </a:r>
          </a:p>
          <a:p>
            <a:pPr>
              <a:spcAft>
                <a:spcPts val="1200"/>
              </a:spcAft>
              <a:defRPr sz="1900">
                <a:solidFill>
                  <a:srgbClr val="232F3A"/>
                </a:solidFill>
                <a:latin typeface="Aptos"/>
              </a:defRPr>
            </a:pPr>
            <a:r>
              <a:t>• Uvicorn binds to the platform PORT and serves / plus /api/v1.</a:t>
            </a:r>
          </a:p>
          <a:p>
            <a:pPr>
              <a:spcAft>
                <a:spcPts val="1200"/>
              </a:spcAft>
              <a:defRPr sz="1900">
                <a:solidFill>
                  <a:srgbClr val="232F3A"/>
                </a:solidFill>
                <a:latin typeface="Aptos"/>
              </a:defRPr>
            </a:pPr>
            <a:r>
              <a:t>• Configuration is supplied through environment variables; no secrets belong in Git.</a:t>
            </a:r>
          </a:p>
          <a:p>
            <a:pPr>
              <a:spcAft>
                <a:spcPts val="1200"/>
              </a:spcAft>
              <a:defRPr sz="1900">
                <a:solidFill>
                  <a:srgbClr val="232F3A"/>
                </a:solidFill>
                <a:latin typeface="Aptos"/>
              </a:defRPr>
            </a:pPr>
            <a:r>
              <a:t>• Persistent disk is required for durable SQLite history on the deployed service.</a:t>
            </a:r>
          </a:p>
          <a:p>
            <a:pPr>
              <a:spcAft>
                <a:spcPts val="1200"/>
              </a:spcAft>
              <a:defRPr sz="1900">
                <a:solidFill>
                  <a:srgbClr val="232F3A"/>
                </a:solidFill>
                <a:latin typeface="Aptos"/>
              </a:defRPr>
            </a:pPr>
            <a:r>
              <a:t>• Swagger URL and health endpoint provide quick smoke-test entry 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A82"/>
                </a:solidFill>
                <a:latin typeface="Aptos"/>
              </a:defRPr>
            </a:pPr>
            <a:r>
              <a:t>Ledger Lens  |  Solution Presentation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334"/>
                </a:solidFill>
                <a:latin typeface="Aptos"/>
              </a:defRPr>
            </a:pPr>
            <a:r>
              <a:t>Submission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50976"/>
            <a:ext cx="1051560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0626D"/>
                </a:solidFill>
                <a:latin typeface="Aptos"/>
              </a:defRPr>
            </a:pPr>
            <a:r>
              <a:t>Run these checks against the deployed URL before submitting the 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F3A"/>
                </a:solidFill>
                <a:latin typeface="Aptos"/>
              </a:defRPr>
            </a:pPr>
            <a:r>
              <a:t>• Open the frontend URL and upload a representative PDF, JPG, and PNG.</a:t>
            </a:r>
          </a:p>
          <a:p>
            <a:pPr>
              <a:spcAft>
                <a:spcPts val="1200"/>
              </a:spcAft>
              <a:defRPr sz="1800">
                <a:solidFill>
                  <a:srgbClr val="232F3A"/>
                </a:solidFill>
                <a:latin typeface="Aptos"/>
              </a:defRPr>
            </a:pPr>
            <a:r>
              <a:t>• Confirm GET /api/v1/health returns status ok.</a:t>
            </a:r>
          </a:p>
          <a:p>
            <a:pPr>
              <a:spcAft>
                <a:spcPts val="1200"/>
              </a:spcAft>
              <a:defRPr sz="1800">
                <a:solidFill>
                  <a:srgbClr val="232F3A"/>
                </a:solidFill>
                <a:latin typeface="Aptos"/>
              </a:defRPr>
            </a:pPr>
            <a:r>
              <a:t>• Confirm POST returns structured extracted_data and validation.checks.</a:t>
            </a:r>
          </a:p>
          <a:p>
            <a:pPr>
              <a:spcAft>
                <a:spcPts val="1200"/>
              </a:spcAft>
              <a:defRPr sz="1800">
                <a:solidFill>
                  <a:srgbClr val="232F3A"/>
                </a:solidFill>
                <a:latin typeface="Aptos"/>
              </a:defRPr>
            </a:pPr>
            <a:r>
              <a:t>• Confirm GET /api/v1/documents lists the processed record.</a:t>
            </a:r>
          </a:p>
          <a:p>
            <a:pPr>
              <a:spcAft>
                <a:spcPts val="1200"/>
              </a:spcAft>
              <a:defRPr sz="1800">
                <a:solidFill>
                  <a:srgbClr val="232F3A"/>
                </a:solidFill>
                <a:latin typeface="Aptos"/>
              </a:defRPr>
            </a:pPr>
            <a:r>
              <a:t>• Confirm GET /api/v1/documents/{name} returns the latest stored result.</a:t>
            </a:r>
          </a:p>
          <a:p>
            <a:pPr>
              <a:spcAft>
                <a:spcPts val="1200"/>
              </a:spcAft>
              <a:defRPr sz="1800">
                <a:solidFill>
                  <a:srgbClr val="232F3A"/>
                </a:solidFill>
                <a:latin typeface="Aptos"/>
              </a:defRPr>
            </a:pPr>
            <a:r>
              <a:t>• Replace the placeholders in README with the real Render and GitHub URLs.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A82"/>
                </a:solidFill>
                <a:latin typeface="Aptos"/>
              </a:defRPr>
            </a:pPr>
            <a:r>
              <a:t>Ledger Lens  |  Solution Presentation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334"/>
                </a:solidFill>
                <a:latin typeface="Aptos"/>
              </a:defRPr>
            </a:pPr>
            <a: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50976"/>
            <a:ext cx="1051560" cy="640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0626D"/>
                </a:solidFill>
                <a:latin typeface="Aptos"/>
              </a:defRPr>
            </a:pPr>
            <a:r>
              <a:t>The current design is submission-ready and intentionally transparent about tradeoffs.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F3A"/>
                </a:solidFill>
                <a:latin typeface="Aptos"/>
              </a:defRPr>
            </a:pPr>
            <a:r>
              <a:t>• OCR and first-load model initialization can be slow on small instances.</a:t>
            </a:r>
          </a:p>
          <a:p>
            <a:pPr>
              <a:spcAft>
                <a:spcPts val="1200"/>
              </a:spcAft>
              <a:defRPr sz="2000">
                <a:solidFill>
                  <a:srgbClr val="232F3A"/>
                </a:solidFill>
                <a:latin typeface="Aptos"/>
              </a:defRPr>
            </a:pPr>
            <a:r>
              <a:t>• Rule-based parsing is tuned to the supplied layouts and may need new templates for novel formats.</a:t>
            </a:r>
          </a:p>
          <a:p>
            <a:pPr>
              <a:spcAft>
                <a:spcPts val="1200"/>
              </a:spcAft>
              <a:defRPr sz="2000">
                <a:solidFill>
                  <a:srgbClr val="232F3A"/>
                </a:solidFill>
                <a:latin typeface="Aptos"/>
              </a:defRPr>
            </a:pPr>
            <a:r>
              <a:t>• SQLite is suitable for a single service instance, not high-volume multi-instance writes.</a:t>
            </a:r>
          </a:p>
          <a:p>
            <a:pPr>
              <a:spcAft>
                <a:spcPts val="1200"/>
              </a:spcAft>
              <a:defRPr sz="2000">
                <a:solidFill>
                  <a:srgbClr val="232F3A"/>
                </a:solidFill>
                <a:latin typeface="Aptos"/>
              </a:defRPr>
            </a:pPr>
            <a:r>
              <a:t>• Next: PostgreSQL/object storage, async OCR queue, authentication, rate limits, metrics, and deployment smoke 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A82"/>
                </a:solidFill>
                <a:latin typeface="Aptos"/>
              </a:defRPr>
            </a:pPr>
            <a:r>
              <a:t>Ledger Lens  |  Solution Presentation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